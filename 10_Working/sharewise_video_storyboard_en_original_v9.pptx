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send a private document to ChatGPT, prepare a text copy with ShareWise. Review what is hidden on your computer, then decide whether to share that copy with your chosen AI. If useful, bring the answer back and restore matching details locally.</a:t>
            </a:r>
          </a:p>
          <a:p/>
          <a:p>
            <a:r>
              <a:t>Claim scope: ShareWise runs locally. An external AI service is a separate step chosen by the user.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ShareWise works offline on Windows. It never uploads your documents for processing. Open Word, PowerPoint, Excel worksheets, text PDFs, text files or Markdown, or paste text. Detected private details become consistent placeholders. The text detector recorded 98 percent token recall in a synthetic benchmark. Results vary by document.</a:t>
            </a:r>
          </a:p>
          <a:p/>
          <a:p>
            <a:r>
              <a:t>Claim scope: The benchmark is model-level, not measured end-to-end ShareWise accuracy. Office inputs are DOCX, PPTX and XLSX.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 to work from a scan? Optional Smart OCR can read printed scanned or mixed PDFs, plus PNG, JPEG and multipage TIFF images. Recognition runs on your computer. ShareWise prepares text for review; it does not change the source image.</a:t>
            </a:r>
          </a:p>
          <a:p/>
          <a:p>
            <a:r>
              <a:t>Claim scope: Printed content only. No handwriting, signatures or OCR of images embedded inside Office files.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OCR page, compare the source image with the editable recognized text and correct mistakes before privacy analysis. This check is required even in Minimal mode. Choose automatic language selection or a subset of English, Italian, French, German, Spanish and Dutch.</a:t>
            </a:r>
          </a:p>
          <a:p/>
          <a:p>
            <a:r>
              <a:t>Claim scope: Six OCR document languages, distinct from the four interface languages. OCR quality varies and requires source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larger jobs, paged PDFs and images can be up to 200 pages, 512 mebibytes and two million characters. Other supported files retain smaller bounds. ShareWise reports incomplete or failed work instead of quietly approving it for export.</a:t>
            </a:r>
          </a:p>
          <a:p/>
          <a:p>
            <a:r>
              <a:t>Claim scope: Paged PDF and image limits only. Other formats retain 25 MiB and 200,000-character limits, with further XLSX bounds.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Minimal keeps standard inputs quick. For scanned files, it pauses for the OCR check. Advanced gives you an aligned text comparison, batch work and controls to keep or hide suggestions. Review unhighlighted text too before sharing.</a:t>
            </a:r>
          </a:p>
          <a:p/>
          <a:p>
            <a:r>
              <a:t>Claim scope: OCR source confirmation and privacy review remain mandatory where applicable, including Minimal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exact confidential terms you want hidden. ShareWise can also remember your deliberate keep and hide choices locally, so repeated decisions take less work. It does not learn from untouched suggestions. You can disable or clear this memory.</a:t>
            </a:r>
          </a:p>
          <a:p/>
          <a:p>
            <a:r>
              <a:t>Claim scope: Exact, case-sensitive terms and explicit corrections. Local learning files are unencrypted.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sharing reviewed text with an AI service of your choice, you can optionally restore matching placeholders with a private restoration file. Keep that file on your computer. It contains original values and is not encrypted.</a:t>
            </a:r>
          </a:p>
          <a:p/>
          <a:p>
            <a:r>
              <a:t>Claim scope: Restoration requires intact placeholders and the matching private map; never upload the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ShareWise helps you prepare, but cannot guarantee that every sensitive detail was found. You remain responsible for deciding what can be shared. Ask ALPINNO about current availability and licensing.</a:t>
            </a:r>
          </a:p>
          <a:p/>
          <a:p>
            <a:r>
              <a:t>Claim scope: No anonymity, compliance or safety guarantee. The release is available by enquiry, not public download.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30352"/>
            <a:ext cx="6858000" cy="777240"/>
          </a:xfrm>
          <a:prstGeom prst="rect">
            <a:avLst/>
          </a:prstGeom>
          <a:noFill/>
        </p:spPr>
        <p:txBody>
          <a:bodyPr wrap="square" lIns="18288" rIns="18288" tIns="18288" bIns="18288" anchor="ctr">
            <a:spAutoFit/>
          </a:bodyPr>
          <a:lstStyle/>
          <a:p>
            <a:pPr>
              <a:defRPr sz="4200" b="1">
                <a:solidFill>
                  <a:srgbClr val="FFFFFF"/>
                </a:solidFill>
                <a:latin typeface="Arial"/>
              </a:defRPr>
            </a:pPr>
            <a:r>
              <a:t>ShareWise</a:t>
            </a:r>
          </a:p>
        </p:txBody>
      </p:sp>
      <p:sp>
        <p:nvSpPr>
          <p:cNvPr id="4" name="TextBox 3"/>
          <p:cNvSpPr txBox="1"/>
          <p:nvPr/>
        </p:nvSpPr>
        <p:spPr>
          <a:xfrm>
            <a:off x="566928" y="1316736"/>
            <a:ext cx="9966960" cy="731520"/>
          </a:xfrm>
          <a:prstGeom prst="rect">
            <a:avLst/>
          </a:prstGeom>
          <a:noFill/>
        </p:spPr>
        <p:txBody>
          <a:bodyPr wrap="square" lIns="18288" rIns="18288" tIns="18288" bIns="18288" anchor="ctr">
            <a:spAutoFit/>
          </a:bodyPr>
          <a:lstStyle/>
          <a:p>
            <a:pPr>
              <a:defRPr sz="3700" b="1">
                <a:solidFill>
                  <a:srgbClr val="FFFFFF"/>
                </a:solidFill>
                <a:latin typeface="Arial"/>
              </a:defRPr>
            </a:pPr>
            <a:r>
              <a:t>Before AI, prepare privately.</a:t>
            </a:r>
          </a:p>
        </p:txBody>
      </p:sp>
      <p:sp>
        <p:nvSpPr>
          <p:cNvPr id="5" name="TextBox 4"/>
          <p:cNvSpPr txBox="1"/>
          <p:nvPr/>
        </p:nvSpPr>
        <p:spPr>
          <a:xfrm>
            <a:off x="576072" y="2084831"/>
            <a:ext cx="10332720" cy="512064"/>
          </a:xfrm>
          <a:prstGeom prst="rect">
            <a:avLst/>
          </a:prstGeom>
          <a:noFill/>
        </p:spPr>
        <p:txBody>
          <a:bodyPr wrap="square" lIns="18288" rIns="18288" tIns="18288" bIns="18288" anchor="ctr">
            <a:spAutoFit/>
          </a:bodyPr>
          <a:lstStyle/>
          <a:p>
            <a:pPr>
              <a:defRPr sz="2200" b="0">
                <a:solidFill>
                  <a:srgbClr val="DAE8F3"/>
                </a:solidFill>
                <a:latin typeface="Arial"/>
              </a:defRPr>
            </a:pPr>
            <a:r>
              <a:t>A local step between your document and the AI you choose.</a:t>
            </a:r>
          </a:p>
        </p:txBody>
      </p:sp>
      <p:sp>
        <p:nvSpPr>
          <p:cNvPr id="6" name="Rounded Rectangle 5"/>
          <p:cNvSpPr/>
          <p:nvPr/>
        </p:nvSpPr>
        <p:spPr>
          <a:xfrm>
            <a:off x="566928" y="3163824"/>
            <a:ext cx="3291840" cy="19568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383280"/>
            <a:ext cx="530352" cy="402336"/>
          </a:xfrm>
          <a:prstGeom prst="rect">
            <a:avLst/>
          </a:prstGeom>
          <a:noFill/>
        </p:spPr>
        <p:txBody>
          <a:bodyPr wrap="square" lIns="18288" rIns="18288" tIns="18288" bIns="18288" anchor="ctr">
            <a:spAutoFit/>
          </a:bodyPr>
          <a:lstStyle/>
          <a:p>
            <a:pPr>
              <a:defRPr sz="2000" b="1">
                <a:solidFill>
                  <a:srgbClr val="D7A24A"/>
                </a:solidFill>
                <a:latin typeface="Arial"/>
              </a:defRPr>
            </a:pPr>
            <a:r>
              <a:t>01</a:t>
            </a:r>
          </a:p>
        </p:txBody>
      </p:sp>
      <p:sp>
        <p:nvSpPr>
          <p:cNvPr id="8" name="TextBox 7"/>
          <p:cNvSpPr txBox="1"/>
          <p:nvPr/>
        </p:nvSpPr>
        <p:spPr>
          <a:xfrm>
            <a:off x="795528" y="3822191"/>
            <a:ext cx="2788920" cy="438912"/>
          </a:xfrm>
          <a:prstGeom prst="rect">
            <a:avLst/>
          </a:prstGeom>
          <a:noFill/>
        </p:spPr>
        <p:txBody>
          <a:bodyPr wrap="square" lIns="18288" rIns="18288" tIns="18288" bIns="18288" anchor="ctr">
            <a:spAutoFit/>
          </a:bodyPr>
          <a:lstStyle/>
          <a:p>
            <a:pPr>
              <a:defRPr sz="2400" b="1">
                <a:solidFill>
                  <a:srgbClr val="0B1F3A"/>
                </a:solidFill>
                <a:latin typeface="Arial"/>
              </a:defRPr>
            </a:pPr>
            <a:r>
              <a:t>Prepare</a:t>
            </a:r>
          </a:p>
        </p:txBody>
      </p:sp>
      <p:sp>
        <p:nvSpPr>
          <p:cNvPr id="9" name="TextBox 8"/>
          <p:cNvSpPr txBox="1"/>
          <p:nvPr/>
        </p:nvSpPr>
        <p:spPr>
          <a:xfrm>
            <a:off x="795528" y="4370832"/>
            <a:ext cx="2779776" cy="512064"/>
          </a:xfrm>
          <a:prstGeom prst="rect">
            <a:avLst/>
          </a:prstGeom>
          <a:noFill/>
        </p:spPr>
        <p:txBody>
          <a:bodyPr wrap="square" lIns="18288" rIns="18288" tIns="18288" bIns="18288" anchor="ctr">
            <a:spAutoFit/>
          </a:bodyPr>
          <a:lstStyle/>
          <a:p>
            <a:pPr>
              <a:defRPr sz="1500" b="0">
                <a:solidFill>
                  <a:srgbClr val="153556"/>
                </a:solidFill>
                <a:latin typeface="Arial"/>
              </a:defRPr>
            </a:pPr>
            <a:r>
              <a:t>Hide detected details locally</a:t>
            </a:r>
          </a:p>
        </p:txBody>
      </p:sp>
      <p:sp>
        <p:nvSpPr>
          <p:cNvPr id="10" name="Rounded Rectangle 9"/>
          <p:cNvSpPr/>
          <p:nvPr/>
        </p:nvSpPr>
        <p:spPr>
          <a:xfrm>
            <a:off x="4443984" y="3163824"/>
            <a:ext cx="3291840" cy="19568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4" y="3383280"/>
            <a:ext cx="530352" cy="402336"/>
          </a:xfrm>
          <a:prstGeom prst="rect">
            <a:avLst/>
          </a:prstGeom>
          <a:noFill/>
        </p:spPr>
        <p:txBody>
          <a:bodyPr wrap="square" lIns="18288" rIns="18288" tIns="18288" bIns="18288" anchor="ctr">
            <a:spAutoFit/>
          </a:bodyPr>
          <a:lstStyle/>
          <a:p>
            <a:pPr>
              <a:defRPr sz="2000" b="1">
                <a:solidFill>
                  <a:srgbClr val="D7A24A"/>
                </a:solidFill>
                <a:latin typeface="Arial"/>
              </a:defRPr>
            </a:pPr>
            <a:r>
              <a:t>02</a:t>
            </a:r>
          </a:p>
        </p:txBody>
      </p:sp>
      <p:sp>
        <p:nvSpPr>
          <p:cNvPr id="12" name="TextBox 11"/>
          <p:cNvSpPr txBox="1"/>
          <p:nvPr/>
        </p:nvSpPr>
        <p:spPr>
          <a:xfrm>
            <a:off x="4672584" y="3822191"/>
            <a:ext cx="2788920" cy="438912"/>
          </a:xfrm>
          <a:prstGeom prst="rect">
            <a:avLst/>
          </a:prstGeom>
          <a:noFill/>
        </p:spPr>
        <p:txBody>
          <a:bodyPr wrap="square" lIns="18288" rIns="18288" tIns="18288" bIns="18288" anchor="ctr">
            <a:spAutoFit/>
          </a:bodyPr>
          <a:lstStyle/>
          <a:p>
            <a:pPr>
              <a:defRPr sz="2400" b="1">
                <a:solidFill>
                  <a:srgbClr val="0B1F3A"/>
                </a:solidFill>
                <a:latin typeface="Arial"/>
              </a:defRPr>
            </a:pPr>
            <a:r>
              <a:t>Choose</a:t>
            </a:r>
          </a:p>
        </p:txBody>
      </p:sp>
      <p:sp>
        <p:nvSpPr>
          <p:cNvPr id="13" name="TextBox 12"/>
          <p:cNvSpPr txBox="1"/>
          <p:nvPr/>
        </p:nvSpPr>
        <p:spPr>
          <a:xfrm>
            <a:off x="4672584" y="4370832"/>
            <a:ext cx="2779776" cy="512064"/>
          </a:xfrm>
          <a:prstGeom prst="rect">
            <a:avLst/>
          </a:prstGeom>
          <a:noFill/>
        </p:spPr>
        <p:txBody>
          <a:bodyPr wrap="square" lIns="18288" rIns="18288" tIns="18288" bIns="18288" anchor="ctr">
            <a:spAutoFit/>
          </a:bodyPr>
          <a:lstStyle/>
          <a:p>
            <a:pPr>
              <a:defRPr sz="1500" b="0">
                <a:solidFill>
                  <a:srgbClr val="153556"/>
                </a:solidFill>
                <a:latin typeface="Arial"/>
              </a:defRPr>
            </a:pPr>
            <a:r>
              <a:t>Review the text you may share</a:t>
            </a:r>
          </a:p>
        </p:txBody>
      </p:sp>
      <p:sp>
        <p:nvSpPr>
          <p:cNvPr id="14" name="Rounded Rectangle 13"/>
          <p:cNvSpPr/>
          <p:nvPr/>
        </p:nvSpPr>
        <p:spPr>
          <a:xfrm>
            <a:off x="8321040" y="3163824"/>
            <a:ext cx="3291840" cy="195681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3383280"/>
            <a:ext cx="530352" cy="402336"/>
          </a:xfrm>
          <a:prstGeom prst="rect">
            <a:avLst/>
          </a:prstGeom>
          <a:noFill/>
        </p:spPr>
        <p:txBody>
          <a:bodyPr wrap="square" lIns="18288" rIns="18288" tIns="18288" bIns="18288" anchor="ctr">
            <a:spAutoFit/>
          </a:bodyPr>
          <a:lstStyle/>
          <a:p>
            <a:pPr>
              <a:defRPr sz="2000" b="1">
                <a:solidFill>
                  <a:srgbClr val="D7A24A"/>
                </a:solidFill>
                <a:latin typeface="Arial"/>
              </a:defRPr>
            </a:pPr>
            <a:r>
              <a:t>03</a:t>
            </a:r>
          </a:p>
        </p:txBody>
      </p:sp>
      <p:sp>
        <p:nvSpPr>
          <p:cNvPr id="16" name="TextBox 15"/>
          <p:cNvSpPr txBox="1"/>
          <p:nvPr/>
        </p:nvSpPr>
        <p:spPr>
          <a:xfrm>
            <a:off x="8549640" y="3822191"/>
            <a:ext cx="2788920" cy="438912"/>
          </a:xfrm>
          <a:prstGeom prst="rect">
            <a:avLst/>
          </a:prstGeom>
          <a:noFill/>
        </p:spPr>
        <p:txBody>
          <a:bodyPr wrap="square" lIns="18288" rIns="18288" tIns="18288" bIns="18288" anchor="ctr">
            <a:spAutoFit/>
          </a:bodyPr>
          <a:lstStyle/>
          <a:p>
            <a:pPr>
              <a:defRPr sz="2400" b="1">
                <a:solidFill>
                  <a:srgbClr val="0B1F3A"/>
                </a:solidFill>
                <a:latin typeface="Arial"/>
              </a:defRPr>
            </a:pPr>
            <a:r>
              <a:t>Restore</a:t>
            </a:r>
          </a:p>
        </p:txBody>
      </p:sp>
      <p:sp>
        <p:nvSpPr>
          <p:cNvPr id="17" name="TextBox 16"/>
          <p:cNvSpPr txBox="1"/>
          <p:nvPr/>
        </p:nvSpPr>
        <p:spPr>
          <a:xfrm>
            <a:off x="8549640" y="4370832"/>
            <a:ext cx="2779776" cy="512064"/>
          </a:xfrm>
          <a:prstGeom prst="rect">
            <a:avLst/>
          </a:prstGeom>
          <a:noFill/>
        </p:spPr>
        <p:txBody>
          <a:bodyPr wrap="square" lIns="18288" rIns="18288" tIns="18288" bIns="18288" anchor="ctr">
            <a:spAutoFit/>
          </a:bodyPr>
          <a:lstStyle/>
          <a:p>
            <a:pPr>
              <a:defRPr sz="1500" b="0">
                <a:solidFill>
                  <a:srgbClr val="153556"/>
                </a:solidFill>
                <a:latin typeface="Arial"/>
              </a:defRPr>
            </a:pPr>
            <a:r>
              <a:t>Optional, with your private file</a:t>
            </a:r>
          </a:p>
        </p:txBody>
      </p:sp>
      <p:sp>
        <p:nvSpPr>
          <p:cNvPr id="18" name="TextBox 17"/>
          <p:cNvSpPr txBox="1"/>
          <p:nvPr/>
        </p:nvSpPr>
        <p:spPr>
          <a:xfrm>
            <a:off x="566928" y="6291072"/>
            <a:ext cx="7315200" cy="219456"/>
          </a:xfrm>
          <a:prstGeom prst="rect">
            <a:avLst/>
          </a:prstGeom>
          <a:noFill/>
        </p:spPr>
        <p:txBody>
          <a:bodyPr wrap="square" lIns="18288" rIns="18288" tIns="18288" bIns="18288" anchor="ctr">
            <a:spAutoFit/>
          </a:bodyPr>
          <a:lstStyle/>
          <a:p>
            <a:pPr>
              <a:defRPr sz="1300" b="1">
                <a:solidFill>
                  <a:srgbClr val="D7A24A"/>
                </a:solidFill>
                <a:latin typeface="Arial"/>
              </a:defRPr>
            </a:pPr>
            <a:r>
              <a:t>ALPINNO GmbH  |  Developed in Switzerland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Offline on Windows</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02</a:t>
            </a:r>
          </a:p>
        </p:txBody>
      </p:sp>
      <p:sp>
        <p:nvSpPr>
          <p:cNvPr id="6" name="Rounded Rectangle 5"/>
          <p:cNvSpPr/>
          <p:nvPr/>
        </p:nvSpPr>
        <p:spPr>
          <a:xfrm>
            <a:off x="548640" y="1344168"/>
            <a:ext cx="3959352" cy="4352544"/>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9344"/>
            <a:ext cx="3200400" cy="1207008"/>
          </a:xfrm>
          <a:prstGeom prst="rect">
            <a:avLst/>
          </a:prstGeom>
          <a:noFill/>
        </p:spPr>
        <p:txBody>
          <a:bodyPr wrap="square" lIns="18288" rIns="18288" tIns="18288" bIns="18288" anchor="ctr">
            <a:spAutoFit/>
          </a:bodyPr>
          <a:lstStyle/>
          <a:p>
            <a:pPr>
              <a:defRPr sz="7000" b="1">
                <a:solidFill>
                  <a:srgbClr val="D7A24A"/>
                </a:solidFill>
                <a:latin typeface="Arial"/>
              </a:defRPr>
            </a:pPr>
            <a:r>
              <a:t>98%</a:t>
            </a:r>
          </a:p>
        </p:txBody>
      </p:sp>
      <p:sp>
        <p:nvSpPr>
          <p:cNvPr id="8" name="TextBox 7"/>
          <p:cNvSpPr txBox="1"/>
          <p:nvPr/>
        </p:nvSpPr>
        <p:spPr>
          <a:xfrm>
            <a:off x="822960" y="2926080"/>
            <a:ext cx="3108960" cy="457200"/>
          </a:xfrm>
          <a:prstGeom prst="rect">
            <a:avLst/>
          </a:prstGeom>
          <a:noFill/>
        </p:spPr>
        <p:txBody>
          <a:bodyPr wrap="square" lIns="18288" rIns="18288" tIns="18288" bIns="18288" anchor="ctr">
            <a:spAutoFit/>
          </a:bodyPr>
          <a:lstStyle/>
          <a:p>
            <a:pPr>
              <a:defRPr sz="2400" b="1">
                <a:solidFill>
                  <a:srgbClr val="0B1F3A"/>
                </a:solidFill>
                <a:latin typeface="Arial"/>
              </a:defRPr>
            </a:pPr>
            <a:r>
              <a:t>token recall</a:t>
            </a:r>
          </a:p>
        </p:txBody>
      </p:sp>
      <p:sp>
        <p:nvSpPr>
          <p:cNvPr id="9" name="TextBox 8"/>
          <p:cNvSpPr txBox="1"/>
          <p:nvPr/>
        </p:nvSpPr>
        <p:spPr>
          <a:xfrm>
            <a:off x="822960" y="3712463"/>
            <a:ext cx="3163824" cy="960120"/>
          </a:xfrm>
          <a:prstGeom prst="rect">
            <a:avLst/>
          </a:prstGeom>
          <a:noFill/>
        </p:spPr>
        <p:txBody>
          <a:bodyPr wrap="square" lIns="18288" rIns="18288" tIns="18288" bIns="18288" anchor="ctr">
            <a:spAutoFit/>
          </a:bodyPr>
          <a:lstStyle/>
          <a:p>
            <a:pPr>
              <a:defRPr sz="1700" b="0">
                <a:solidFill>
                  <a:srgbClr val="4F6477"/>
                </a:solidFill>
                <a:latin typeface="Arial"/>
              </a:defRPr>
            </a:pPr>
            <a:r>
              <a:t>Text-detector result in a synthetic benchmark. Document results vary.</a:t>
            </a:r>
          </a:p>
        </p:txBody>
      </p:sp>
      <p:sp>
        <p:nvSpPr>
          <p:cNvPr id="10" name="Rounded Rectangle 9"/>
          <p:cNvSpPr/>
          <p:nvPr/>
        </p:nvSpPr>
        <p:spPr>
          <a:xfrm>
            <a:off x="4782312" y="1344168"/>
            <a:ext cx="6858000" cy="4352544"/>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93208" y="1609344"/>
            <a:ext cx="6217920" cy="822960"/>
          </a:xfrm>
          <a:prstGeom prst="rect">
            <a:avLst/>
          </a:prstGeom>
          <a:noFill/>
        </p:spPr>
        <p:txBody>
          <a:bodyPr wrap="square" lIns="18288" rIns="18288" tIns="18288" bIns="18288" anchor="ctr">
            <a:spAutoFit/>
          </a:bodyPr>
          <a:lstStyle/>
          <a:p>
            <a:pPr>
              <a:defRPr sz="2400" b="1">
                <a:solidFill>
                  <a:srgbClr val="0B1F3A"/>
                </a:solidFill>
                <a:latin typeface="Arial"/>
              </a:defRPr>
            </a:pPr>
            <a:r>
              <a:t>No upload. No account. No model server.</a:t>
            </a:r>
          </a:p>
        </p:txBody>
      </p:sp>
      <p:sp>
        <p:nvSpPr>
          <p:cNvPr id="12" name="TextBox 11"/>
          <p:cNvSpPr txBox="1"/>
          <p:nvPr/>
        </p:nvSpPr>
        <p:spPr>
          <a:xfrm>
            <a:off x="5093208" y="2743200"/>
            <a:ext cx="5669280" cy="365760"/>
          </a:xfrm>
          <a:prstGeom prst="rect">
            <a:avLst/>
          </a:prstGeom>
          <a:noFill/>
        </p:spPr>
        <p:txBody>
          <a:bodyPr wrap="square" lIns="18288" rIns="18288" tIns="18288" bIns="18288" anchor="ctr">
            <a:spAutoFit/>
          </a:bodyPr>
          <a:lstStyle/>
          <a:p>
            <a:pPr>
              <a:defRPr sz="1800" b="1">
                <a:solidFill>
                  <a:srgbClr val="1769AA"/>
                </a:solidFill>
                <a:latin typeface="Arial"/>
              </a:defRPr>
            </a:pPr>
            <a:r>
              <a:t>Common inputs</a:t>
            </a:r>
          </a:p>
        </p:txBody>
      </p:sp>
      <p:sp>
        <p:nvSpPr>
          <p:cNvPr id="13" name="TextBox 12"/>
          <p:cNvSpPr txBox="1"/>
          <p:nvPr/>
        </p:nvSpPr>
        <p:spPr>
          <a:xfrm>
            <a:off x="5093208" y="3182112"/>
            <a:ext cx="5897880" cy="1353312"/>
          </a:xfrm>
          <a:prstGeom prst="rect">
            <a:avLst/>
          </a:prstGeom>
          <a:noFill/>
        </p:spPr>
        <p:txBody>
          <a:bodyPr wrap="square" lIns="18288" rIns="18288" tIns="18288" bIns="18288" anchor="ctr">
            <a:spAutoFit/>
          </a:bodyPr>
          <a:lstStyle/>
          <a:p>
            <a:pPr>
              <a:defRPr sz="2000" b="0">
                <a:solidFill>
                  <a:srgbClr val="153556"/>
                </a:solidFill>
                <a:latin typeface="Arial"/>
              </a:defRPr>
            </a:pPr>
            <a:r>
              <a:t>DOCX  ·  PPTX  ·  XLSX</a:t>
            </a:r>
          </a:p>
          <a:p>
            <a:pPr>
              <a:defRPr sz="2000" b="0">
                <a:solidFill>
                  <a:srgbClr val="153556"/>
                </a:solidFill>
                <a:latin typeface="Arial"/>
              </a:defRPr>
            </a:pPr>
            <a:r>
              <a:t>Text PDF  ·  TXT  ·  Markdown  ·  Pasted text</a:t>
            </a:r>
          </a:p>
        </p:txBody>
      </p:sp>
      <p:sp>
        <p:nvSpPr>
          <p:cNvPr id="14" name="TextBox 13"/>
          <p:cNvSpPr txBox="1"/>
          <p:nvPr/>
        </p:nvSpPr>
        <p:spPr>
          <a:xfrm>
            <a:off x="603504" y="5925312"/>
            <a:ext cx="10881360" cy="365760"/>
          </a:xfrm>
          <a:prstGeom prst="rect">
            <a:avLst/>
          </a:prstGeom>
          <a:noFill/>
        </p:spPr>
        <p:txBody>
          <a:bodyPr wrap="square" lIns="18288" rIns="18288" tIns="18288" bIns="18288" anchor="ctr">
            <a:spAutoFit/>
          </a:bodyPr>
          <a:lstStyle/>
          <a:p>
            <a:pPr>
              <a:defRPr sz="2000" b="1">
                <a:solidFill>
                  <a:srgbClr val="0B1F3A"/>
                </a:solidFill>
                <a:latin typeface="Arial"/>
              </a:defRPr>
            </a:pPr>
            <a:r>
              <a:t>ShareWise preparation runs on your Windows computer.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Printed scans, now included</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03</a:t>
            </a:r>
          </a:p>
        </p:txBody>
      </p:sp>
      <p:sp>
        <p:nvSpPr>
          <p:cNvPr id="6" name="TextBox 5"/>
          <p:cNvSpPr txBox="1"/>
          <p:nvPr/>
        </p:nvSpPr>
        <p:spPr>
          <a:xfrm>
            <a:off x="594360" y="1243584"/>
            <a:ext cx="10881360" cy="539496"/>
          </a:xfrm>
          <a:prstGeom prst="rect">
            <a:avLst/>
          </a:prstGeom>
          <a:noFill/>
        </p:spPr>
        <p:txBody>
          <a:bodyPr wrap="square" lIns="18288" rIns="18288" tIns="18288" bIns="18288" anchor="ctr">
            <a:spAutoFit/>
          </a:bodyPr>
          <a:lstStyle/>
          <a:p>
            <a:pPr>
              <a:defRPr sz="2300" b="0">
                <a:solidFill>
                  <a:srgbClr val="153556"/>
                </a:solidFill>
                <a:latin typeface="Arial"/>
              </a:defRPr>
            </a:pPr>
            <a:r>
              <a:t>Smart OCR turns printed pages into text for review.</a:t>
            </a:r>
          </a:p>
        </p:txBody>
      </p:sp>
      <p:sp>
        <p:nvSpPr>
          <p:cNvPr id="7" name="Rounded Rectangle 6"/>
          <p:cNvSpPr/>
          <p:nvPr/>
        </p:nvSpPr>
        <p:spPr>
          <a:xfrm>
            <a:off x="576072" y="2029968"/>
            <a:ext cx="3493008" cy="2304288"/>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6072" y="2029968"/>
            <a:ext cx="59436" cy="2304288"/>
          </a:xfrm>
          <a:prstGeom prst="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231136"/>
            <a:ext cx="3017520" cy="438912"/>
          </a:xfrm>
          <a:prstGeom prst="rect">
            <a:avLst/>
          </a:prstGeom>
          <a:noFill/>
        </p:spPr>
        <p:txBody>
          <a:bodyPr wrap="square" lIns="18288" rIns="18288" tIns="18288" bIns="18288" anchor="ctr">
            <a:spAutoFit/>
          </a:bodyPr>
          <a:lstStyle/>
          <a:p>
            <a:pPr>
              <a:defRPr sz="2200" b="1">
                <a:solidFill>
                  <a:srgbClr val="0B1F3A"/>
                </a:solidFill>
                <a:latin typeface="Arial"/>
              </a:defRPr>
            </a:pPr>
            <a:r>
              <a:t>Scanned PDF</a:t>
            </a:r>
          </a:p>
        </p:txBody>
      </p:sp>
      <p:sp>
        <p:nvSpPr>
          <p:cNvPr id="10" name="TextBox 9"/>
          <p:cNvSpPr txBox="1"/>
          <p:nvPr/>
        </p:nvSpPr>
        <p:spPr>
          <a:xfrm>
            <a:off x="804672" y="2944368"/>
            <a:ext cx="3017520" cy="1207008"/>
          </a:xfrm>
          <a:prstGeom prst="rect">
            <a:avLst/>
          </a:prstGeom>
          <a:noFill/>
        </p:spPr>
        <p:txBody>
          <a:bodyPr wrap="square" lIns="18288" rIns="18288" tIns="18288" bIns="18288" anchor="ctr">
            <a:spAutoFit/>
          </a:bodyPr>
          <a:lstStyle/>
          <a:p>
            <a:pPr>
              <a:defRPr sz="1800" b="0">
                <a:solidFill>
                  <a:srgbClr val="153556"/>
                </a:solidFill>
                <a:latin typeface="Arial"/>
              </a:defRPr>
            </a:pPr>
            <a:r>
              <a:t>Printed scans and mixed PDFs with native text</a:t>
            </a:r>
          </a:p>
        </p:txBody>
      </p:sp>
      <p:sp>
        <p:nvSpPr>
          <p:cNvPr id="11" name="Rounded Rectangle 10"/>
          <p:cNvSpPr/>
          <p:nvPr/>
        </p:nvSpPr>
        <p:spPr>
          <a:xfrm>
            <a:off x="4352544" y="2029968"/>
            <a:ext cx="3493008" cy="2304288"/>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2029968"/>
            <a:ext cx="59436" cy="2304288"/>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231136"/>
            <a:ext cx="3017520" cy="438912"/>
          </a:xfrm>
          <a:prstGeom prst="rect">
            <a:avLst/>
          </a:prstGeom>
          <a:noFill/>
        </p:spPr>
        <p:txBody>
          <a:bodyPr wrap="square" lIns="18288" rIns="18288" tIns="18288" bIns="18288" anchor="ctr">
            <a:spAutoFit/>
          </a:bodyPr>
          <a:lstStyle/>
          <a:p>
            <a:pPr>
              <a:defRPr sz="2200" b="1">
                <a:solidFill>
                  <a:srgbClr val="0B1F3A"/>
                </a:solidFill>
                <a:latin typeface="Arial"/>
              </a:defRPr>
            </a:pPr>
            <a:r>
              <a:t>PNG and JPEG</a:t>
            </a:r>
          </a:p>
        </p:txBody>
      </p:sp>
      <p:sp>
        <p:nvSpPr>
          <p:cNvPr id="14" name="TextBox 13"/>
          <p:cNvSpPr txBox="1"/>
          <p:nvPr/>
        </p:nvSpPr>
        <p:spPr>
          <a:xfrm>
            <a:off x="4581144" y="2944368"/>
            <a:ext cx="3017520" cy="1207008"/>
          </a:xfrm>
          <a:prstGeom prst="rect">
            <a:avLst/>
          </a:prstGeom>
          <a:noFill/>
        </p:spPr>
        <p:txBody>
          <a:bodyPr wrap="square" lIns="18288" rIns="18288" tIns="18288" bIns="18288" anchor="ctr">
            <a:spAutoFit/>
          </a:bodyPr>
          <a:lstStyle/>
          <a:p>
            <a:pPr>
              <a:defRPr sz="1800" b="0">
                <a:solidFill>
                  <a:srgbClr val="153556"/>
                </a:solidFill>
                <a:latin typeface="Arial"/>
              </a:defRPr>
            </a:pPr>
            <a:r>
              <a:t>Printed page images and photographs</a:t>
            </a:r>
          </a:p>
        </p:txBody>
      </p:sp>
      <p:sp>
        <p:nvSpPr>
          <p:cNvPr id="15" name="Rounded Rectangle 14"/>
          <p:cNvSpPr/>
          <p:nvPr/>
        </p:nvSpPr>
        <p:spPr>
          <a:xfrm>
            <a:off x="8129016" y="2029968"/>
            <a:ext cx="3493008" cy="2304288"/>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9016" y="2029968"/>
            <a:ext cx="59436" cy="2304288"/>
          </a:xfrm>
          <a:prstGeom prst="rect">
            <a:avLst/>
          </a:prstGeom>
          <a:solidFill>
            <a:srgbClr val="CF3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6" y="2231136"/>
            <a:ext cx="3017520" cy="438912"/>
          </a:xfrm>
          <a:prstGeom prst="rect">
            <a:avLst/>
          </a:prstGeom>
          <a:noFill/>
        </p:spPr>
        <p:txBody>
          <a:bodyPr wrap="square" lIns="18288" rIns="18288" tIns="18288" bIns="18288" anchor="ctr">
            <a:spAutoFit/>
          </a:bodyPr>
          <a:lstStyle/>
          <a:p>
            <a:pPr>
              <a:defRPr sz="2200" b="1">
                <a:solidFill>
                  <a:srgbClr val="0B1F3A"/>
                </a:solidFill>
                <a:latin typeface="Arial"/>
              </a:defRPr>
            </a:pPr>
            <a:r>
              <a:t>Multipage TIFF</a:t>
            </a:r>
          </a:p>
        </p:txBody>
      </p:sp>
      <p:sp>
        <p:nvSpPr>
          <p:cNvPr id="18" name="TextBox 17"/>
          <p:cNvSpPr txBox="1"/>
          <p:nvPr/>
        </p:nvSpPr>
        <p:spPr>
          <a:xfrm>
            <a:off x="8357616" y="2944368"/>
            <a:ext cx="3017520" cy="1207008"/>
          </a:xfrm>
          <a:prstGeom prst="rect">
            <a:avLst/>
          </a:prstGeom>
          <a:noFill/>
        </p:spPr>
        <p:txBody>
          <a:bodyPr wrap="square" lIns="18288" rIns="18288" tIns="18288" bIns="18288" anchor="ctr">
            <a:spAutoFit/>
          </a:bodyPr>
          <a:lstStyle/>
          <a:p>
            <a:pPr>
              <a:defRPr sz="1800" b="0">
                <a:solidFill>
                  <a:srgbClr val="153556"/>
                </a:solidFill>
                <a:latin typeface="Arial"/>
              </a:defRPr>
            </a:pPr>
            <a:r>
              <a:t>Several printed pages in one image file</a:t>
            </a:r>
          </a:p>
        </p:txBody>
      </p:sp>
      <p:sp>
        <p:nvSpPr>
          <p:cNvPr id="19" name="Rounded Rectangle 18"/>
          <p:cNvSpPr/>
          <p:nvPr/>
        </p:nvSpPr>
        <p:spPr>
          <a:xfrm>
            <a:off x="576072" y="4700016"/>
            <a:ext cx="11045952" cy="111556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4965192"/>
            <a:ext cx="10469880" cy="502920"/>
          </a:xfrm>
          <a:prstGeom prst="rect">
            <a:avLst/>
          </a:prstGeom>
          <a:noFill/>
        </p:spPr>
        <p:txBody>
          <a:bodyPr wrap="square" lIns="18288" rIns="18288" tIns="18288" bIns="18288" anchor="ctr">
            <a:spAutoFit/>
          </a:bodyPr>
          <a:lstStyle/>
          <a:p>
            <a:pPr>
              <a:defRPr sz="2200" b="1">
                <a:solidFill>
                  <a:srgbClr val="0B1F3A"/>
                </a:solidFill>
                <a:latin typeface="Arial"/>
              </a:defRPr>
            </a:pPr>
            <a:r>
              <a:t>The source image stays intact. ShareWise prepares extracted 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Check every OCR page</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04</a:t>
            </a:r>
          </a:p>
        </p:txBody>
      </p:sp>
      <p:sp>
        <p:nvSpPr>
          <p:cNvPr id="6" name="Rounded Rectangle 5"/>
          <p:cNvSpPr/>
          <p:nvPr/>
        </p:nvSpPr>
        <p:spPr>
          <a:xfrm>
            <a:off x="576072" y="1325880"/>
            <a:ext cx="5422392" cy="3401568"/>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32104" y="1581912"/>
            <a:ext cx="1499616" cy="310896"/>
          </a:xfrm>
          <a:prstGeom prst="round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613916"/>
            <a:ext cx="1353312" cy="219456"/>
          </a:xfrm>
          <a:prstGeom prst="rect">
            <a:avLst/>
          </a:prstGeom>
          <a:noFill/>
        </p:spPr>
        <p:txBody>
          <a:bodyPr wrap="square" lIns="18288" rIns="18288" tIns="18288" bIns="18288" anchor="ctr">
            <a:spAutoFit/>
          </a:bodyPr>
          <a:lstStyle/>
          <a:p>
            <a:pPr algn="ctr">
              <a:defRPr sz="1000" b="1">
                <a:solidFill>
                  <a:srgbClr val="FFFFFF"/>
                </a:solidFill>
                <a:latin typeface="Arial"/>
              </a:defRPr>
            </a:pPr>
            <a:r>
              <a:t>SOURCE PAGE</a:t>
            </a:r>
          </a:p>
        </p:txBody>
      </p:sp>
      <p:sp>
        <p:nvSpPr>
          <p:cNvPr id="9" name="TextBox 8"/>
          <p:cNvSpPr txBox="1"/>
          <p:nvPr/>
        </p:nvSpPr>
        <p:spPr>
          <a:xfrm>
            <a:off x="832104" y="2103120"/>
            <a:ext cx="4754880" cy="393192"/>
          </a:xfrm>
          <a:prstGeom prst="rect">
            <a:avLst/>
          </a:prstGeom>
          <a:noFill/>
        </p:spPr>
        <p:txBody>
          <a:bodyPr wrap="square" lIns="18288" rIns="18288" tIns="18288" bIns="18288" anchor="ctr">
            <a:spAutoFit/>
          </a:bodyPr>
          <a:lstStyle/>
          <a:p>
            <a:pPr>
              <a:defRPr sz="2100" b="1">
                <a:solidFill>
                  <a:srgbClr val="0B1F3A"/>
                </a:solidFill>
                <a:latin typeface="Arial"/>
              </a:defRPr>
            </a:pPr>
            <a:r>
              <a:t>CONTACT REGISTER</a:t>
            </a:r>
          </a:p>
        </p:txBody>
      </p:sp>
      <p:sp>
        <p:nvSpPr>
          <p:cNvPr id="10" name="TextBox 9"/>
          <p:cNvSpPr txBox="1"/>
          <p:nvPr/>
        </p:nvSpPr>
        <p:spPr>
          <a:xfrm>
            <a:off x="832104" y="2706624"/>
            <a:ext cx="4736592" cy="1353312"/>
          </a:xfrm>
          <a:prstGeom prst="rect">
            <a:avLst/>
          </a:prstGeom>
          <a:noFill/>
        </p:spPr>
        <p:txBody>
          <a:bodyPr wrap="square" lIns="18288" rIns="18288" tIns="18288" bIns="18288" anchor="ctr">
            <a:spAutoFit/>
          </a:bodyPr>
          <a:lstStyle/>
          <a:p>
            <a:pPr>
              <a:defRPr sz="1800" b="0">
                <a:solidFill>
                  <a:srgbClr val="153556"/>
                </a:solidFill>
                <a:latin typeface="Arial"/>
              </a:defRPr>
            </a:pPr>
            <a:r>
              <a:t>Name       Maya Chen</a:t>
            </a:r>
          </a:p>
          <a:p>
            <a:pPr>
              <a:defRPr sz="1800" b="0">
                <a:solidFill>
                  <a:srgbClr val="153556"/>
                </a:solidFill>
                <a:latin typeface="Arial"/>
              </a:defRPr>
            </a:pPr>
            <a:r>
              <a:t>Email       maya.chen@example.com</a:t>
            </a:r>
          </a:p>
          <a:p>
            <a:pPr>
              <a:defRPr sz="1800" b="0">
                <a:solidFill>
                  <a:srgbClr val="153556"/>
                </a:solidFill>
                <a:latin typeface="Arial"/>
              </a:defRPr>
            </a:pPr>
            <a:r>
              <a:t>Account   ACCT-EXAMPLE-4829</a:t>
            </a:r>
          </a:p>
        </p:txBody>
      </p:sp>
      <p:sp>
        <p:nvSpPr>
          <p:cNvPr id="11" name="Rounded Rectangle 10"/>
          <p:cNvSpPr/>
          <p:nvPr/>
        </p:nvSpPr>
        <p:spPr>
          <a:xfrm>
            <a:off x="6199632" y="1325880"/>
            <a:ext cx="5422392" cy="3401568"/>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55664" y="1581912"/>
            <a:ext cx="2148840" cy="310896"/>
          </a:xfrm>
          <a:prstGeom prst="round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28816" y="1613916"/>
            <a:ext cx="2002536" cy="219456"/>
          </a:xfrm>
          <a:prstGeom prst="rect">
            <a:avLst/>
          </a:prstGeom>
          <a:noFill/>
        </p:spPr>
        <p:txBody>
          <a:bodyPr wrap="square" lIns="18288" rIns="18288" tIns="18288" bIns="18288" anchor="ctr">
            <a:spAutoFit/>
          </a:bodyPr>
          <a:lstStyle/>
          <a:p>
            <a:pPr algn="ctr">
              <a:defRPr sz="1000" b="1">
                <a:solidFill>
                  <a:srgbClr val="FFFFFF"/>
                </a:solidFill>
                <a:latin typeface="Arial"/>
              </a:defRPr>
            </a:pPr>
            <a:r>
              <a:t>RECOGNIZED TEXT</a:t>
            </a:r>
          </a:p>
        </p:txBody>
      </p:sp>
      <p:sp>
        <p:nvSpPr>
          <p:cNvPr id="14" name="TextBox 13"/>
          <p:cNvSpPr txBox="1"/>
          <p:nvPr/>
        </p:nvSpPr>
        <p:spPr>
          <a:xfrm>
            <a:off x="6455664" y="2103120"/>
            <a:ext cx="4718304" cy="438912"/>
          </a:xfrm>
          <a:prstGeom prst="rect">
            <a:avLst/>
          </a:prstGeom>
          <a:noFill/>
        </p:spPr>
        <p:txBody>
          <a:bodyPr wrap="square" lIns="18288" rIns="18288" tIns="18288" bIns="18288" anchor="ctr">
            <a:spAutoFit/>
          </a:bodyPr>
          <a:lstStyle/>
          <a:p>
            <a:pPr>
              <a:defRPr sz="2100" b="1">
                <a:solidFill>
                  <a:srgbClr val="0B1F3A"/>
                </a:solidFill>
                <a:latin typeface="Arial"/>
              </a:defRPr>
            </a:pPr>
            <a:r>
              <a:t>Compare and correct</a:t>
            </a:r>
          </a:p>
        </p:txBody>
      </p:sp>
      <p:sp>
        <p:nvSpPr>
          <p:cNvPr id="15" name="TextBox 14"/>
          <p:cNvSpPr txBox="1"/>
          <p:nvPr/>
        </p:nvSpPr>
        <p:spPr>
          <a:xfrm>
            <a:off x="6455664" y="2706624"/>
            <a:ext cx="4663440" cy="1307592"/>
          </a:xfrm>
          <a:prstGeom prst="rect">
            <a:avLst/>
          </a:prstGeom>
          <a:noFill/>
        </p:spPr>
        <p:txBody>
          <a:bodyPr wrap="square" lIns="18288" rIns="18288" tIns="18288" bIns="18288" anchor="ctr">
            <a:spAutoFit/>
          </a:bodyPr>
          <a:lstStyle/>
          <a:p>
            <a:pPr>
              <a:defRPr sz="1800" b="0">
                <a:solidFill>
                  <a:srgbClr val="153556"/>
                </a:solidFill>
                <a:latin typeface="Arial"/>
              </a:defRPr>
            </a:pPr>
            <a:r>
              <a:t>Maya Chen</a:t>
            </a:r>
          </a:p>
          <a:p>
            <a:pPr>
              <a:defRPr sz="1800" b="0">
                <a:solidFill>
                  <a:srgbClr val="153556"/>
                </a:solidFill>
                <a:latin typeface="Arial"/>
              </a:defRPr>
            </a:pPr>
            <a:r>
              <a:t>maya.chen@example.com</a:t>
            </a:r>
          </a:p>
          <a:p>
            <a:pPr>
              <a:defRPr sz="1800" b="0">
                <a:solidFill>
                  <a:srgbClr val="153556"/>
                </a:solidFill>
                <a:latin typeface="Arial"/>
              </a:defRPr>
            </a:pPr>
            <a:r>
              <a:t>ACCT-EXAMPLE-4829</a:t>
            </a:r>
          </a:p>
        </p:txBody>
      </p:sp>
      <p:sp>
        <p:nvSpPr>
          <p:cNvPr id="16" name="TextBox 15"/>
          <p:cNvSpPr txBox="1"/>
          <p:nvPr/>
        </p:nvSpPr>
        <p:spPr>
          <a:xfrm>
            <a:off x="612648" y="4965192"/>
            <a:ext cx="10945368" cy="457200"/>
          </a:xfrm>
          <a:prstGeom prst="rect">
            <a:avLst/>
          </a:prstGeom>
          <a:noFill/>
        </p:spPr>
        <p:txBody>
          <a:bodyPr wrap="square" lIns="18288" rIns="18288" tIns="18288" bIns="18288" anchor="ctr">
            <a:spAutoFit/>
          </a:bodyPr>
          <a:lstStyle/>
          <a:p>
            <a:pPr>
              <a:defRPr sz="2000" b="1">
                <a:solidFill>
                  <a:srgbClr val="0B1F3A"/>
                </a:solidFill>
                <a:latin typeface="Arial"/>
              </a:defRPr>
            </a:pPr>
            <a:r>
              <a:t>Every OCR page needs your confirmation before privacy analysis.</a:t>
            </a:r>
          </a:p>
        </p:txBody>
      </p:sp>
      <p:sp>
        <p:nvSpPr>
          <p:cNvPr id="17" name="TextBox 16"/>
          <p:cNvSpPr txBox="1"/>
          <p:nvPr/>
        </p:nvSpPr>
        <p:spPr>
          <a:xfrm>
            <a:off x="612648" y="5577840"/>
            <a:ext cx="10954512" cy="356616"/>
          </a:xfrm>
          <a:prstGeom prst="rect">
            <a:avLst/>
          </a:prstGeom>
          <a:noFill/>
        </p:spPr>
        <p:txBody>
          <a:bodyPr wrap="square" lIns="18288" rIns="18288" tIns="18288" bIns="18288" anchor="ctr">
            <a:spAutoFit/>
          </a:bodyPr>
          <a:lstStyle/>
          <a:p>
            <a:pPr>
              <a:defRPr sz="1500" b="1">
                <a:solidFill>
                  <a:srgbClr val="1769AA"/>
                </a:solidFill>
                <a:latin typeface="Arial"/>
              </a:defRPr>
            </a:pPr>
            <a:r>
              <a:t>OCR document languages: English · Italian · French · German · Spanish · Dutch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Room for larger documents</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05</a:t>
            </a:r>
          </a:p>
        </p:txBody>
      </p:sp>
      <p:sp>
        <p:nvSpPr>
          <p:cNvPr id="6" name="Rounded Rectangle 5"/>
          <p:cNvSpPr/>
          <p:nvPr/>
        </p:nvSpPr>
        <p:spPr>
          <a:xfrm>
            <a:off x="576072" y="1545336"/>
            <a:ext cx="3493008" cy="3008376"/>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3090672" cy="822960"/>
          </a:xfrm>
          <a:prstGeom prst="rect">
            <a:avLst/>
          </a:prstGeom>
          <a:noFill/>
        </p:spPr>
        <p:txBody>
          <a:bodyPr wrap="square" lIns="18288" rIns="18288" tIns="18288" bIns="18288" anchor="ctr">
            <a:spAutoFit/>
          </a:bodyPr>
          <a:lstStyle/>
          <a:p>
            <a:pPr algn="ctr">
              <a:defRPr sz="4200" b="1">
                <a:solidFill>
                  <a:srgbClr val="D7A24A"/>
                </a:solidFill>
                <a:latin typeface="Arial"/>
              </a:defRPr>
            </a:pPr>
            <a:r>
              <a:t>200</a:t>
            </a:r>
          </a:p>
        </p:txBody>
      </p:sp>
      <p:sp>
        <p:nvSpPr>
          <p:cNvPr id="8" name="TextBox 7"/>
          <p:cNvSpPr txBox="1"/>
          <p:nvPr/>
        </p:nvSpPr>
        <p:spPr>
          <a:xfrm>
            <a:off x="777240" y="2752344"/>
            <a:ext cx="3090672" cy="420624"/>
          </a:xfrm>
          <a:prstGeom prst="rect">
            <a:avLst/>
          </a:prstGeom>
          <a:noFill/>
        </p:spPr>
        <p:txBody>
          <a:bodyPr wrap="square" lIns="18288" rIns="18288" tIns="18288" bIns="18288" anchor="ctr">
            <a:spAutoFit/>
          </a:bodyPr>
          <a:lstStyle/>
          <a:p>
            <a:pPr algn="ctr">
              <a:defRPr sz="2300" b="1">
                <a:solidFill>
                  <a:srgbClr val="0B1F3A"/>
                </a:solidFill>
                <a:latin typeface="Arial"/>
              </a:defRPr>
            </a:pPr>
            <a:r>
              <a:t>pages</a:t>
            </a:r>
          </a:p>
        </p:txBody>
      </p:sp>
      <p:sp>
        <p:nvSpPr>
          <p:cNvPr id="9" name="TextBox 8"/>
          <p:cNvSpPr txBox="1"/>
          <p:nvPr/>
        </p:nvSpPr>
        <p:spPr>
          <a:xfrm>
            <a:off x="777240" y="3383280"/>
            <a:ext cx="3090672" cy="548640"/>
          </a:xfrm>
          <a:prstGeom prst="rect">
            <a:avLst/>
          </a:prstGeom>
          <a:noFill/>
        </p:spPr>
        <p:txBody>
          <a:bodyPr wrap="square" lIns="18288" rIns="18288" tIns="18288" bIns="18288" anchor="ctr">
            <a:spAutoFit/>
          </a:bodyPr>
          <a:lstStyle/>
          <a:p>
            <a:pPr algn="ctr">
              <a:defRPr sz="1500" b="0">
                <a:solidFill>
                  <a:srgbClr val="4F6477"/>
                </a:solidFill>
                <a:latin typeface="Arial"/>
              </a:defRPr>
            </a:pPr>
            <a:r>
              <a:t>per paged document</a:t>
            </a:r>
          </a:p>
        </p:txBody>
      </p:sp>
      <p:sp>
        <p:nvSpPr>
          <p:cNvPr id="10" name="Rounded Rectangle 9"/>
          <p:cNvSpPr/>
          <p:nvPr/>
        </p:nvSpPr>
        <p:spPr>
          <a:xfrm>
            <a:off x="4352544" y="1545336"/>
            <a:ext cx="3493008" cy="3008376"/>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28800"/>
            <a:ext cx="3090672" cy="822960"/>
          </a:xfrm>
          <a:prstGeom prst="rect">
            <a:avLst/>
          </a:prstGeom>
          <a:noFill/>
        </p:spPr>
        <p:txBody>
          <a:bodyPr wrap="square" lIns="18288" rIns="18288" tIns="18288" bIns="18288" anchor="ctr">
            <a:spAutoFit/>
          </a:bodyPr>
          <a:lstStyle/>
          <a:p>
            <a:pPr algn="ctr">
              <a:defRPr sz="4200" b="1">
                <a:solidFill>
                  <a:srgbClr val="D7A24A"/>
                </a:solidFill>
                <a:latin typeface="Arial"/>
              </a:defRPr>
            </a:pPr>
            <a:r>
              <a:t>512</a:t>
            </a:r>
          </a:p>
        </p:txBody>
      </p:sp>
      <p:sp>
        <p:nvSpPr>
          <p:cNvPr id="12" name="TextBox 11"/>
          <p:cNvSpPr txBox="1"/>
          <p:nvPr/>
        </p:nvSpPr>
        <p:spPr>
          <a:xfrm>
            <a:off x="4553712" y="2752344"/>
            <a:ext cx="3090672" cy="420624"/>
          </a:xfrm>
          <a:prstGeom prst="rect">
            <a:avLst/>
          </a:prstGeom>
          <a:noFill/>
        </p:spPr>
        <p:txBody>
          <a:bodyPr wrap="square" lIns="18288" rIns="18288" tIns="18288" bIns="18288" anchor="ctr">
            <a:spAutoFit/>
          </a:bodyPr>
          <a:lstStyle/>
          <a:p>
            <a:pPr algn="ctr">
              <a:defRPr sz="2300" b="1">
                <a:solidFill>
                  <a:srgbClr val="0B1F3A"/>
                </a:solidFill>
                <a:latin typeface="Arial"/>
              </a:defRPr>
            </a:pPr>
            <a:r>
              <a:t>MiB</a:t>
            </a:r>
          </a:p>
        </p:txBody>
      </p:sp>
      <p:sp>
        <p:nvSpPr>
          <p:cNvPr id="13" name="TextBox 12"/>
          <p:cNvSpPr txBox="1"/>
          <p:nvPr/>
        </p:nvSpPr>
        <p:spPr>
          <a:xfrm>
            <a:off x="4553712" y="3383280"/>
            <a:ext cx="3090672" cy="548640"/>
          </a:xfrm>
          <a:prstGeom prst="rect">
            <a:avLst/>
          </a:prstGeom>
          <a:noFill/>
        </p:spPr>
        <p:txBody>
          <a:bodyPr wrap="square" lIns="18288" rIns="18288" tIns="18288" bIns="18288" anchor="ctr">
            <a:spAutoFit/>
          </a:bodyPr>
          <a:lstStyle/>
          <a:p>
            <a:pPr algn="ctr">
              <a:defRPr sz="1500" b="0">
                <a:solidFill>
                  <a:srgbClr val="4F6477"/>
                </a:solidFill>
                <a:latin typeface="Arial"/>
              </a:defRPr>
            </a:pPr>
            <a:r>
              <a:t>input size</a:t>
            </a:r>
          </a:p>
        </p:txBody>
      </p:sp>
      <p:sp>
        <p:nvSpPr>
          <p:cNvPr id="14" name="Rounded Rectangle 13"/>
          <p:cNvSpPr/>
          <p:nvPr/>
        </p:nvSpPr>
        <p:spPr>
          <a:xfrm>
            <a:off x="8129016" y="1545336"/>
            <a:ext cx="3493008" cy="3008376"/>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4" y="1828800"/>
            <a:ext cx="3090672" cy="822960"/>
          </a:xfrm>
          <a:prstGeom prst="rect">
            <a:avLst/>
          </a:prstGeom>
          <a:noFill/>
        </p:spPr>
        <p:txBody>
          <a:bodyPr wrap="square" lIns="18288" rIns="18288" tIns="18288" bIns="18288" anchor="ctr">
            <a:spAutoFit/>
          </a:bodyPr>
          <a:lstStyle/>
          <a:p>
            <a:pPr algn="ctr">
              <a:defRPr sz="4200" b="1">
                <a:solidFill>
                  <a:srgbClr val="D7A24A"/>
                </a:solidFill>
                <a:latin typeface="Arial"/>
              </a:defRPr>
            </a:pPr>
            <a:r>
              <a:t>2 million</a:t>
            </a:r>
          </a:p>
        </p:txBody>
      </p:sp>
      <p:sp>
        <p:nvSpPr>
          <p:cNvPr id="16" name="TextBox 15"/>
          <p:cNvSpPr txBox="1"/>
          <p:nvPr/>
        </p:nvSpPr>
        <p:spPr>
          <a:xfrm>
            <a:off x="8330184" y="2752344"/>
            <a:ext cx="3090672" cy="420624"/>
          </a:xfrm>
          <a:prstGeom prst="rect">
            <a:avLst/>
          </a:prstGeom>
          <a:noFill/>
        </p:spPr>
        <p:txBody>
          <a:bodyPr wrap="square" lIns="18288" rIns="18288" tIns="18288" bIns="18288" anchor="ctr">
            <a:spAutoFit/>
          </a:bodyPr>
          <a:lstStyle/>
          <a:p>
            <a:pPr algn="ctr">
              <a:defRPr sz="2300" b="1">
                <a:solidFill>
                  <a:srgbClr val="0B1F3A"/>
                </a:solidFill>
                <a:latin typeface="Arial"/>
              </a:defRPr>
            </a:pPr>
            <a:r>
              <a:t>characters</a:t>
            </a:r>
          </a:p>
        </p:txBody>
      </p:sp>
      <p:sp>
        <p:nvSpPr>
          <p:cNvPr id="17" name="TextBox 16"/>
          <p:cNvSpPr txBox="1"/>
          <p:nvPr/>
        </p:nvSpPr>
        <p:spPr>
          <a:xfrm>
            <a:off x="8330184" y="3383280"/>
            <a:ext cx="3090672" cy="548640"/>
          </a:xfrm>
          <a:prstGeom prst="rect">
            <a:avLst/>
          </a:prstGeom>
          <a:noFill/>
        </p:spPr>
        <p:txBody>
          <a:bodyPr wrap="square" lIns="18288" rIns="18288" tIns="18288" bIns="18288" anchor="ctr">
            <a:spAutoFit/>
          </a:bodyPr>
          <a:lstStyle/>
          <a:p>
            <a:pPr algn="ctr">
              <a:defRPr sz="1500" b="0">
                <a:solidFill>
                  <a:srgbClr val="4F6477"/>
                </a:solidFill>
                <a:latin typeface="Arial"/>
              </a:defRPr>
            </a:pPr>
            <a:r>
              <a:t>recognized or extracted</a:t>
            </a:r>
          </a:p>
        </p:txBody>
      </p:sp>
      <p:sp>
        <p:nvSpPr>
          <p:cNvPr id="18" name="TextBox 17"/>
          <p:cNvSpPr txBox="1"/>
          <p:nvPr/>
        </p:nvSpPr>
        <p:spPr>
          <a:xfrm>
            <a:off x="612648" y="4855464"/>
            <a:ext cx="10954512" cy="457200"/>
          </a:xfrm>
          <a:prstGeom prst="rect">
            <a:avLst/>
          </a:prstGeom>
          <a:noFill/>
        </p:spPr>
        <p:txBody>
          <a:bodyPr wrap="square" lIns="18288" rIns="18288" tIns="18288" bIns="18288" anchor="ctr">
            <a:spAutoFit/>
          </a:bodyPr>
          <a:lstStyle/>
          <a:p>
            <a:pPr>
              <a:defRPr sz="2000" b="1">
                <a:solidFill>
                  <a:srgbClr val="0B1F3A"/>
                </a:solidFill>
                <a:latin typeface="Arial"/>
              </a:defRPr>
            </a:pPr>
            <a:r>
              <a:t>Applies to paged PDFs and images. Other formats have separate limits.</a:t>
            </a:r>
          </a:p>
        </p:txBody>
      </p:sp>
      <p:sp>
        <p:nvSpPr>
          <p:cNvPr id="19" name="TextBox 18"/>
          <p:cNvSpPr txBox="1"/>
          <p:nvPr/>
        </p:nvSpPr>
        <p:spPr>
          <a:xfrm>
            <a:off x="612648" y="5458968"/>
            <a:ext cx="10954512" cy="438912"/>
          </a:xfrm>
          <a:prstGeom prst="rect">
            <a:avLst/>
          </a:prstGeom>
          <a:noFill/>
        </p:spPr>
        <p:txBody>
          <a:bodyPr wrap="square" lIns="18288" rIns="18288" tIns="18288" bIns="18288" anchor="ctr">
            <a:spAutoFit/>
          </a:bodyPr>
          <a:lstStyle/>
          <a:p>
            <a:pPr>
              <a:defRPr sz="1800" b="0">
                <a:solidFill>
                  <a:srgbClr val="1769AA"/>
                </a:solidFill>
                <a:latin typeface="Arial"/>
              </a:defRPr>
            </a:pPr>
            <a:r>
              <a:t>Incomplete or failed work is reported, not silently approved for export.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Simple or detailed review</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06</a:t>
            </a:r>
          </a:p>
        </p:txBody>
      </p:sp>
      <p:sp>
        <p:nvSpPr>
          <p:cNvPr id="6" name="Rounded Rectangle 5"/>
          <p:cNvSpPr/>
          <p:nvPr/>
        </p:nvSpPr>
        <p:spPr>
          <a:xfrm>
            <a:off x="576072" y="1371600"/>
            <a:ext cx="5385816" cy="3438144"/>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72" y="1371600"/>
            <a:ext cx="59436" cy="3438144"/>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72768"/>
            <a:ext cx="4910327" cy="438912"/>
          </a:xfrm>
          <a:prstGeom prst="rect">
            <a:avLst/>
          </a:prstGeom>
          <a:noFill/>
        </p:spPr>
        <p:txBody>
          <a:bodyPr wrap="square" lIns="18288" rIns="18288" tIns="18288" bIns="18288" anchor="ctr">
            <a:spAutoFit/>
          </a:bodyPr>
          <a:lstStyle/>
          <a:p>
            <a:pPr>
              <a:defRPr sz="2200" b="1">
                <a:solidFill>
                  <a:srgbClr val="0B1F3A"/>
                </a:solidFill>
                <a:latin typeface="Arial"/>
              </a:defRPr>
            </a:pPr>
            <a:r>
              <a:t>Minimal</a:t>
            </a:r>
          </a:p>
        </p:txBody>
      </p:sp>
      <p:sp>
        <p:nvSpPr>
          <p:cNvPr id="9" name="TextBox 8"/>
          <p:cNvSpPr txBox="1"/>
          <p:nvPr/>
        </p:nvSpPr>
        <p:spPr>
          <a:xfrm>
            <a:off x="804672" y="2286000"/>
            <a:ext cx="4910327" cy="1463040"/>
          </a:xfrm>
          <a:prstGeom prst="rect">
            <a:avLst/>
          </a:prstGeom>
          <a:noFill/>
        </p:spPr>
        <p:txBody>
          <a:bodyPr wrap="square" lIns="18288" rIns="18288" tIns="18288" bIns="18288" anchor="ctr">
            <a:spAutoFit/>
          </a:bodyPr>
          <a:lstStyle/>
          <a:p>
            <a:pPr>
              <a:defRPr sz="1800" b="0">
                <a:solidFill>
                  <a:srgbClr val="153556"/>
                </a:solidFill>
                <a:latin typeface="Arial"/>
              </a:defRPr>
            </a:pPr>
            <a:r>
              <a:t>A quick path for standard inputs. Scanned pages pause for the required OCR source check.</a:t>
            </a:r>
          </a:p>
        </p:txBody>
      </p:sp>
      <p:sp>
        <p:nvSpPr>
          <p:cNvPr id="10" name="Rounded Rectangle 9"/>
          <p:cNvSpPr/>
          <p:nvPr/>
        </p:nvSpPr>
        <p:spPr>
          <a:xfrm>
            <a:off x="6227064" y="1371600"/>
            <a:ext cx="5385816" cy="3438144"/>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371600"/>
            <a:ext cx="59436" cy="3438144"/>
          </a:xfrm>
          <a:prstGeom prst="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572768"/>
            <a:ext cx="4910327" cy="438912"/>
          </a:xfrm>
          <a:prstGeom prst="rect">
            <a:avLst/>
          </a:prstGeom>
          <a:noFill/>
        </p:spPr>
        <p:txBody>
          <a:bodyPr wrap="square" lIns="18288" rIns="18288" tIns="18288" bIns="18288" anchor="ctr">
            <a:spAutoFit/>
          </a:bodyPr>
          <a:lstStyle/>
          <a:p>
            <a:pPr>
              <a:defRPr sz="2200" b="1">
                <a:solidFill>
                  <a:srgbClr val="0B1F3A"/>
                </a:solidFill>
                <a:latin typeface="Arial"/>
              </a:defRPr>
            </a:pPr>
            <a:r>
              <a:t>Advanced</a:t>
            </a:r>
          </a:p>
        </p:txBody>
      </p:sp>
      <p:sp>
        <p:nvSpPr>
          <p:cNvPr id="13" name="TextBox 12"/>
          <p:cNvSpPr txBox="1"/>
          <p:nvPr/>
        </p:nvSpPr>
        <p:spPr>
          <a:xfrm>
            <a:off x="6455664" y="2286000"/>
            <a:ext cx="4910327" cy="1463040"/>
          </a:xfrm>
          <a:prstGeom prst="rect">
            <a:avLst/>
          </a:prstGeom>
          <a:noFill/>
        </p:spPr>
        <p:txBody>
          <a:bodyPr wrap="square" lIns="18288" rIns="18288" tIns="18288" bIns="18288" anchor="ctr">
            <a:spAutoFit/>
          </a:bodyPr>
          <a:lstStyle/>
          <a:p>
            <a:pPr>
              <a:defRPr sz="1800" b="0">
                <a:solidFill>
                  <a:srgbClr val="153556"/>
                </a:solidFill>
                <a:latin typeface="Arial"/>
              </a:defRPr>
            </a:pPr>
            <a:r>
              <a:t>Aligned text comparison, batch work and controls to keep or hide suggestions.</a:t>
            </a:r>
          </a:p>
        </p:txBody>
      </p:sp>
      <p:sp>
        <p:nvSpPr>
          <p:cNvPr id="14" name="Rounded Rectangle 13"/>
          <p:cNvSpPr/>
          <p:nvPr/>
        </p:nvSpPr>
        <p:spPr>
          <a:xfrm>
            <a:off x="576072" y="5157216"/>
            <a:ext cx="11036808" cy="786384"/>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321808"/>
            <a:ext cx="10561320" cy="438912"/>
          </a:xfrm>
          <a:prstGeom prst="rect">
            <a:avLst/>
          </a:prstGeom>
          <a:noFill/>
        </p:spPr>
        <p:txBody>
          <a:bodyPr wrap="square" lIns="18288" rIns="18288" tIns="18288" bIns="18288" anchor="ctr">
            <a:spAutoFit/>
          </a:bodyPr>
          <a:lstStyle/>
          <a:p>
            <a:pPr>
              <a:defRPr sz="2000" b="1">
                <a:solidFill>
                  <a:srgbClr val="0B1F3A"/>
                </a:solidFill>
                <a:latin typeface="Arial"/>
              </a:defRPr>
            </a:pPr>
            <a:r>
              <a:t>Review the complete output, including text that was not highlighted.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Your local decisions</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07</a:t>
            </a:r>
          </a:p>
        </p:txBody>
      </p:sp>
      <p:sp>
        <p:nvSpPr>
          <p:cNvPr id="6" name="Rounded Rectangle 5"/>
          <p:cNvSpPr/>
          <p:nvPr/>
        </p:nvSpPr>
        <p:spPr>
          <a:xfrm>
            <a:off x="576072" y="1536192"/>
            <a:ext cx="5385816" cy="3456432"/>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6072" y="1536192"/>
            <a:ext cx="59436" cy="3456432"/>
          </a:xfrm>
          <a:prstGeom prst="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737360"/>
            <a:ext cx="4910327" cy="438912"/>
          </a:xfrm>
          <a:prstGeom prst="rect">
            <a:avLst/>
          </a:prstGeom>
          <a:noFill/>
        </p:spPr>
        <p:txBody>
          <a:bodyPr wrap="square" lIns="18288" rIns="18288" tIns="18288" bIns="18288" anchor="ctr">
            <a:spAutoFit/>
          </a:bodyPr>
          <a:lstStyle/>
          <a:p>
            <a:pPr>
              <a:defRPr sz="2200" b="1">
                <a:solidFill>
                  <a:srgbClr val="0B1F3A"/>
                </a:solidFill>
                <a:latin typeface="Arial"/>
              </a:defRPr>
            </a:pPr>
            <a:r>
              <a:t>Confidential-term lists</a:t>
            </a:r>
          </a:p>
        </p:txBody>
      </p:sp>
      <p:sp>
        <p:nvSpPr>
          <p:cNvPr id="9" name="TextBox 8"/>
          <p:cNvSpPr txBox="1"/>
          <p:nvPr/>
        </p:nvSpPr>
        <p:spPr>
          <a:xfrm>
            <a:off x="804672" y="2450591"/>
            <a:ext cx="4910327" cy="1463040"/>
          </a:xfrm>
          <a:prstGeom prst="rect">
            <a:avLst/>
          </a:prstGeom>
          <a:noFill/>
        </p:spPr>
        <p:txBody>
          <a:bodyPr wrap="square" lIns="18288" rIns="18288" tIns="18288" bIns="18288" anchor="ctr">
            <a:spAutoFit/>
          </a:bodyPr>
          <a:lstStyle/>
          <a:p>
            <a:pPr>
              <a:defRPr sz="1800" b="0">
                <a:solidFill>
                  <a:srgbClr val="153556"/>
                </a:solidFill>
                <a:latin typeface="Arial"/>
              </a:defRPr>
            </a:pPr>
            <a:r>
              <a:t>Add exact client, company or project terms you want hidden in extracted text.</a:t>
            </a:r>
          </a:p>
        </p:txBody>
      </p:sp>
      <p:sp>
        <p:nvSpPr>
          <p:cNvPr id="10" name="Rounded Rectangle 9"/>
          <p:cNvSpPr/>
          <p:nvPr/>
        </p:nvSpPr>
        <p:spPr>
          <a:xfrm>
            <a:off x="6227064" y="1536192"/>
            <a:ext cx="5385816" cy="3456432"/>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536192"/>
            <a:ext cx="59436" cy="3456432"/>
          </a:xfrm>
          <a:prstGeom prst="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737360"/>
            <a:ext cx="4910327" cy="438912"/>
          </a:xfrm>
          <a:prstGeom prst="rect">
            <a:avLst/>
          </a:prstGeom>
          <a:noFill/>
        </p:spPr>
        <p:txBody>
          <a:bodyPr wrap="square" lIns="18288" rIns="18288" tIns="18288" bIns="18288" anchor="ctr">
            <a:spAutoFit/>
          </a:bodyPr>
          <a:lstStyle/>
          <a:p>
            <a:pPr>
              <a:defRPr sz="2200" b="1">
                <a:solidFill>
                  <a:srgbClr val="0B1F3A"/>
                </a:solidFill>
                <a:latin typeface="Arial"/>
              </a:defRPr>
            </a:pPr>
            <a:r>
              <a:t>Correction memory</a:t>
            </a:r>
          </a:p>
        </p:txBody>
      </p:sp>
      <p:sp>
        <p:nvSpPr>
          <p:cNvPr id="13" name="TextBox 12"/>
          <p:cNvSpPr txBox="1"/>
          <p:nvPr/>
        </p:nvSpPr>
        <p:spPr>
          <a:xfrm>
            <a:off x="6455664" y="2450591"/>
            <a:ext cx="4910327" cy="1463040"/>
          </a:xfrm>
          <a:prstGeom prst="rect">
            <a:avLst/>
          </a:prstGeom>
          <a:noFill/>
        </p:spPr>
        <p:txBody>
          <a:bodyPr wrap="square" lIns="18288" rIns="18288" tIns="18288" bIns="18288" anchor="ctr">
            <a:spAutoFit/>
          </a:bodyPr>
          <a:lstStyle/>
          <a:p>
            <a:pPr>
              <a:defRPr sz="1800" b="0">
                <a:solidFill>
                  <a:srgbClr val="153556"/>
                </a:solidFill>
                <a:latin typeface="Arial"/>
              </a:defRPr>
            </a:pPr>
            <a:r>
              <a:t>Remember your deliberate keep and hide choices locally. Disable or clear them in Settings.</a:t>
            </a:r>
          </a:p>
        </p:txBody>
      </p:sp>
      <p:sp>
        <p:nvSpPr>
          <p:cNvPr id="14" name="TextBox 13"/>
          <p:cNvSpPr txBox="1"/>
          <p:nvPr/>
        </p:nvSpPr>
        <p:spPr>
          <a:xfrm>
            <a:off x="603504" y="5367528"/>
            <a:ext cx="10881360" cy="448056"/>
          </a:xfrm>
          <a:prstGeom prst="rect">
            <a:avLst/>
          </a:prstGeom>
          <a:noFill/>
        </p:spPr>
        <p:txBody>
          <a:bodyPr wrap="square" lIns="18288" rIns="18288" tIns="18288" bIns="18288" anchor="ctr">
            <a:spAutoFit/>
          </a:bodyPr>
          <a:lstStyle/>
          <a:p>
            <a:pPr>
              <a:defRPr sz="2000" b="1">
                <a:solidFill>
                  <a:srgbClr val="0B1F3A"/>
                </a:solidFill>
                <a:latin typeface="Arial"/>
              </a:defRPr>
            </a:pPr>
            <a:r>
              <a:t>No cloud learning. No inference from untouched suggestions.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7"/>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429768"/>
            <a:ext cx="10972800" cy="594360"/>
          </a:xfrm>
          <a:prstGeom prst="rect">
            <a:avLst/>
          </a:prstGeom>
          <a:noFill/>
        </p:spPr>
        <p:txBody>
          <a:bodyPr wrap="square" lIns="18288" rIns="18288" tIns="18288" bIns="18288" anchor="ctr">
            <a:spAutoFit/>
          </a:bodyPr>
          <a:lstStyle/>
          <a:p>
            <a:pPr>
              <a:defRPr sz="3200" b="1">
                <a:solidFill>
                  <a:srgbClr val="0B1F3A"/>
                </a:solidFill>
                <a:latin typeface="Arial"/>
              </a:defRPr>
            </a:pPr>
            <a:r>
              <a:t>Restore only if useful</a:t>
            </a:r>
          </a:p>
        </p:txBody>
      </p:sp>
      <p:sp>
        <p:nvSpPr>
          <p:cNvPr id="4" name="TextBox 3"/>
          <p:cNvSpPr txBox="1"/>
          <p:nvPr/>
        </p:nvSpPr>
        <p:spPr>
          <a:xfrm>
            <a:off x="530352" y="6528816"/>
            <a:ext cx="4572000" cy="164592"/>
          </a:xfrm>
          <a:prstGeom prst="rect">
            <a:avLst/>
          </a:prstGeom>
          <a:noFill/>
        </p:spPr>
        <p:txBody>
          <a:bodyPr wrap="square" lIns="18288" rIns="18288" tIns="18288" bIns="18288" anchor="ctr">
            <a:spAutoFit/>
          </a:bodyPr>
          <a:lstStyle/>
          <a:p>
            <a:pPr>
              <a:defRPr sz="900" b="0">
                <a:solidFill>
                  <a:srgbClr val="4F6477"/>
                </a:solidFill>
                <a:latin typeface="Arial"/>
              </a:defRPr>
            </a:pPr>
            <a:r>
              <a:t>SHAREWISE / ALPINNO GmbH</a:t>
            </a:r>
          </a:p>
        </p:txBody>
      </p:sp>
      <p:sp>
        <p:nvSpPr>
          <p:cNvPr id="5" name="TextBox 4"/>
          <p:cNvSpPr txBox="1"/>
          <p:nvPr/>
        </p:nvSpPr>
        <p:spPr>
          <a:xfrm>
            <a:off x="11292840" y="6528816"/>
            <a:ext cx="365760" cy="164592"/>
          </a:xfrm>
          <a:prstGeom prst="rect">
            <a:avLst/>
          </a:prstGeom>
          <a:noFill/>
        </p:spPr>
        <p:txBody>
          <a:bodyPr wrap="square" lIns="18288" rIns="18288" tIns="18288" bIns="18288" anchor="ctr">
            <a:spAutoFit/>
          </a:bodyPr>
          <a:lstStyle/>
          <a:p>
            <a:pPr algn="r">
              <a:defRPr sz="900" b="0">
                <a:solidFill>
                  <a:srgbClr val="4F6477"/>
                </a:solidFill>
                <a:latin typeface="Arial"/>
              </a:defRPr>
            </a:pPr>
            <a:r>
              <a:t>08</a:t>
            </a:r>
          </a:p>
        </p:txBody>
      </p:sp>
      <p:sp>
        <p:nvSpPr>
          <p:cNvPr id="6" name="Rounded Rectangle 5"/>
          <p:cNvSpPr/>
          <p:nvPr/>
        </p:nvSpPr>
        <p:spPr>
          <a:xfrm>
            <a:off x="576072" y="1444752"/>
            <a:ext cx="3941063" cy="3108960"/>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3816" y="1682496"/>
            <a:ext cx="1636776" cy="310896"/>
          </a:xfrm>
          <a:prstGeom prst="round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14500"/>
            <a:ext cx="1490472" cy="219456"/>
          </a:xfrm>
          <a:prstGeom prst="rect">
            <a:avLst/>
          </a:prstGeom>
          <a:noFill/>
        </p:spPr>
        <p:txBody>
          <a:bodyPr wrap="square" lIns="18288" rIns="18288" tIns="18288" bIns="18288" anchor="ctr">
            <a:spAutoFit/>
          </a:bodyPr>
          <a:lstStyle/>
          <a:p>
            <a:pPr algn="ctr">
              <a:defRPr sz="1000" b="1">
                <a:solidFill>
                  <a:srgbClr val="FFFFFF"/>
                </a:solidFill>
                <a:latin typeface="Arial"/>
              </a:defRPr>
            </a:pPr>
            <a:r>
              <a:t>AI RESPONSE</a:t>
            </a:r>
          </a:p>
        </p:txBody>
      </p:sp>
      <p:sp>
        <p:nvSpPr>
          <p:cNvPr id="9" name="TextBox 8"/>
          <p:cNvSpPr txBox="1"/>
          <p:nvPr/>
        </p:nvSpPr>
        <p:spPr>
          <a:xfrm>
            <a:off x="813816" y="2313432"/>
            <a:ext cx="3410712" cy="1170432"/>
          </a:xfrm>
          <a:prstGeom prst="rect">
            <a:avLst/>
          </a:prstGeom>
          <a:noFill/>
        </p:spPr>
        <p:txBody>
          <a:bodyPr wrap="square" lIns="18288" rIns="18288" tIns="18288" bIns="18288" anchor="ctr">
            <a:spAutoFit/>
          </a:bodyPr>
          <a:lstStyle/>
          <a:p>
            <a:pPr>
              <a:defRPr sz="2100" b="0">
                <a:solidFill>
                  <a:srgbClr val="153556"/>
                </a:solidFill>
                <a:latin typeface="Arial"/>
              </a:defRPr>
            </a:pPr>
            <a:r>
              <a:t>Dear [PERSON_1],</a:t>
            </a:r>
          </a:p>
          <a:p>
            <a:pPr>
              <a:defRPr sz="2100" b="0">
                <a:solidFill>
                  <a:srgbClr val="153556"/>
                </a:solidFill>
                <a:latin typeface="Arial"/>
              </a:defRPr>
            </a:pPr>
            <a:r>
              <a:t>thank you for the update.</a:t>
            </a:r>
          </a:p>
        </p:txBody>
      </p:sp>
      <p:sp>
        <p:nvSpPr>
          <p:cNvPr id="10" name="Rounded Rectangle 9"/>
          <p:cNvSpPr/>
          <p:nvPr/>
        </p:nvSpPr>
        <p:spPr>
          <a:xfrm>
            <a:off x="4700016" y="2642616"/>
            <a:ext cx="1051560" cy="347472"/>
          </a:xfrm>
          <a:prstGeom prst="round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624328"/>
            <a:ext cx="502920" cy="365760"/>
          </a:xfrm>
          <a:prstGeom prst="rect">
            <a:avLst/>
          </a:prstGeom>
          <a:noFill/>
        </p:spPr>
        <p:txBody>
          <a:bodyPr wrap="square" lIns="18288" rIns="18288" tIns="18288" bIns="18288" anchor="ctr">
            <a:spAutoFit/>
          </a:bodyPr>
          <a:lstStyle/>
          <a:p>
            <a:pPr algn="ctr">
              <a:defRPr sz="2300" b="1">
                <a:solidFill>
                  <a:srgbClr val="0B1F3A"/>
                </a:solidFill>
                <a:latin typeface="Arial"/>
              </a:defRPr>
            </a:pPr>
            <a:r>
              <a:t>→</a:t>
            </a:r>
          </a:p>
        </p:txBody>
      </p:sp>
      <p:sp>
        <p:nvSpPr>
          <p:cNvPr id="12" name="Rounded Rectangle 11"/>
          <p:cNvSpPr/>
          <p:nvPr/>
        </p:nvSpPr>
        <p:spPr>
          <a:xfrm>
            <a:off x="5916168" y="1444752"/>
            <a:ext cx="5696712" cy="3108960"/>
          </a:xfrm>
          <a:prstGeom prst="roundRect">
            <a:avLst/>
          </a:prstGeom>
          <a:solidFill>
            <a:srgbClr val="FFFFFF"/>
          </a:solidFill>
          <a:ln w="12700">
            <a:solidFill>
              <a:srgbClr val="CB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682496"/>
            <a:ext cx="2103120" cy="310896"/>
          </a:xfrm>
          <a:prstGeom prst="roundRect">
            <a:avLst/>
          </a:prstGeom>
          <a:solidFill>
            <a:srgbClr val="176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1714500"/>
            <a:ext cx="1956815" cy="219456"/>
          </a:xfrm>
          <a:prstGeom prst="rect">
            <a:avLst/>
          </a:prstGeom>
          <a:noFill/>
        </p:spPr>
        <p:txBody>
          <a:bodyPr wrap="square" lIns="18288" rIns="18288" tIns="18288" bIns="18288" anchor="ctr">
            <a:spAutoFit/>
          </a:bodyPr>
          <a:lstStyle/>
          <a:p>
            <a:pPr algn="ctr">
              <a:defRPr sz="1000" b="1">
                <a:solidFill>
                  <a:srgbClr val="FFFFFF"/>
                </a:solidFill>
                <a:latin typeface="Arial"/>
              </a:defRPr>
            </a:pPr>
            <a:r>
              <a:t>RESTORED LOCALLY</a:t>
            </a:r>
          </a:p>
        </p:txBody>
      </p:sp>
      <p:sp>
        <p:nvSpPr>
          <p:cNvPr id="15" name="TextBox 14"/>
          <p:cNvSpPr txBox="1"/>
          <p:nvPr/>
        </p:nvSpPr>
        <p:spPr>
          <a:xfrm>
            <a:off x="6172200" y="2313432"/>
            <a:ext cx="5056632" cy="1170432"/>
          </a:xfrm>
          <a:prstGeom prst="rect">
            <a:avLst/>
          </a:prstGeom>
          <a:noFill/>
        </p:spPr>
        <p:txBody>
          <a:bodyPr wrap="square" lIns="18288" rIns="18288" tIns="18288" bIns="18288" anchor="ctr">
            <a:spAutoFit/>
          </a:bodyPr>
          <a:lstStyle/>
          <a:p>
            <a:pPr>
              <a:defRPr sz="2100" b="0">
                <a:solidFill>
                  <a:srgbClr val="153556"/>
                </a:solidFill>
                <a:latin typeface="Arial"/>
              </a:defRPr>
            </a:pPr>
            <a:r>
              <a:t>Dear Maya Chen,</a:t>
            </a:r>
          </a:p>
          <a:p>
            <a:pPr>
              <a:defRPr sz="2100" b="0">
                <a:solidFill>
                  <a:srgbClr val="153556"/>
                </a:solidFill>
                <a:latin typeface="Arial"/>
              </a:defRPr>
            </a:pPr>
            <a:r>
              <a:t>thank you for the update.</a:t>
            </a:r>
          </a:p>
        </p:txBody>
      </p:sp>
      <p:sp>
        <p:nvSpPr>
          <p:cNvPr id="16" name="TextBox 15"/>
          <p:cNvSpPr txBox="1"/>
          <p:nvPr/>
        </p:nvSpPr>
        <p:spPr>
          <a:xfrm>
            <a:off x="612648" y="4928616"/>
            <a:ext cx="10917936" cy="886968"/>
          </a:xfrm>
          <a:prstGeom prst="rect">
            <a:avLst/>
          </a:prstGeom>
          <a:noFill/>
        </p:spPr>
        <p:txBody>
          <a:bodyPr wrap="square" lIns="18288" rIns="18288" tIns="18288" bIns="18288" anchor="ctr">
            <a:spAutoFit/>
          </a:bodyPr>
          <a:lstStyle/>
          <a:p>
            <a:pPr>
              <a:defRPr sz="2000" b="1">
                <a:solidFill>
                  <a:srgbClr val="0B1F3A"/>
                </a:solidFill>
                <a:latin typeface="Arial"/>
              </a:defRPr>
            </a:pPr>
            <a:r>
              <a:t>Keep the matching restoration file private. It holds original values and is not encrypted.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D7A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76072" y="594360"/>
            <a:ext cx="7406640" cy="685800"/>
          </a:xfrm>
          <a:prstGeom prst="rect">
            <a:avLst/>
          </a:prstGeom>
          <a:noFill/>
        </p:spPr>
        <p:txBody>
          <a:bodyPr wrap="square" lIns="18288" rIns="18288" tIns="18288" bIns="18288" anchor="ctr">
            <a:spAutoFit/>
          </a:bodyPr>
          <a:lstStyle/>
          <a:p>
            <a:pPr>
              <a:defRPr sz="3800" b="1">
                <a:solidFill>
                  <a:srgbClr val="FFFFFF"/>
                </a:solidFill>
                <a:latin typeface="Arial"/>
              </a:defRPr>
            </a:pPr>
            <a:r>
              <a:t>ShareWise</a:t>
            </a:r>
          </a:p>
        </p:txBody>
      </p:sp>
      <p:sp>
        <p:nvSpPr>
          <p:cNvPr id="4" name="TextBox 3"/>
          <p:cNvSpPr txBox="1"/>
          <p:nvPr/>
        </p:nvSpPr>
        <p:spPr>
          <a:xfrm>
            <a:off x="576072" y="1481328"/>
            <a:ext cx="7315200" cy="2926080"/>
          </a:xfrm>
          <a:prstGeom prst="rect">
            <a:avLst/>
          </a:prstGeom>
          <a:noFill/>
        </p:spPr>
        <p:txBody>
          <a:bodyPr wrap="square" lIns="18288" rIns="18288" tIns="18288" bIns="18288" anchor="ctr">
            <a:spAutoFit/>
          </a:bodyPr>
          <a:lstStyle/>
          <a:p>
            <a:pPr>
              <a:defRPr sz="4800" b="1">
                <a:solidFill>
                  <a:srgbClr val="FFFFFF"/>
                </a:solidFill>
                <a:latin typeface="Arial"/>
              </a:defRPr>
            </a:pPr>
            <a:r>
              <a:t>Your documents.</a:t>
            </a:r>
          </a:p>
          <a:p>
            <a:pPr>
              <a:defRPr sz="4800" b="1">
                <a:solidFill>
                  <a:srgbClr val="FFFFFF"/>
                </a:solidFill>
                <a:latin typeface="Arial"/>
              </a:defRPr>
            </a:pPr>
            <a:r>
              <a:t>Your rules.</a:t>
            </a:r>
          </a:p>
          <a:p>
            <a:pPr>
              <a:defRPr sz="4800" b="1">
                <a:solidFill>
                  <a:srgbClr val="FFFFFF"/>
                </a:solidFill>
                <a:latin typeface="Arial"/>
              </a:defRPr>
            </a:pPr>
            <a:r>
              <a:t>Your decision.</a:t>
            </a:r>
          </a:p>
        </p:txBody>
      </p:sp>
      <p:sp>
        <p:nvSpPr>
          <p:cNvPr id="5" name="Rounded Rectangle 4"/>
          <p:cNvSpPr/>
          <p:nvPr/>
        </p:nvSpPr>
        <p:spPr>
          <a:xfrm>
            <a:off x="8110727" y="1755648"/>
            <a:ext cx="3483864" cy="2706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94192" y="2057400"/>
            <a:ext cx="2953512" cy="859536"/>
          </a:xfrm>
          <a:prstGeom prst="rect">
            <a:avLst/>
          </a:prstGeom>
          <a:noFill/>
        </p:spPr>
        <p:txBody>
          <a:bodyPr wrap="square" lIns="18288" rIns="18288" tIns="18288" bIns="18288" anchor="ctr">
            <a:spAutoFit/>
          </a:bodyPr>
          <a:lstStyle/>
          <a:p>
            <a:pPr>
              <a:defRPr sz="2400" b="1">
                <a:solidFill>
                  <a:srgbClr val="0B1F3A"/>
                </a:solidFill>
                <a:latin typeface="Arial"/>
              </a:defRPr>
            </a:pPr>
            <a:r>
              <a:t>Review before sharing</a:t>
            </a:r>
          </a:p>
        </p:txBody>
      </p:sp>
      <p:sp>
        <p:nvSpPr>
          <p:cNvPr id="7" name="TextBox 6"/>
          <p:cNvSpPr txBox="1"/>
          <p:nvPr/>
        </p:nvSpPr>
        <p:spPr>
          <a:xfrm>
            <a:off x="8394192" y="3017520"/>
            <a:ext cx="2953512" cy="1115568"/>
          </a:xfrm>
          <a:prstGeom prst="rect">
            <a:avLst/>
          </a:prstGeom>
          <a:noFill/>
        </p:spPr>
        <p:txBody>
          <a:bodyPr wrap="square" lIns="18288" rIns="18288" tIns="18288" bIns="18288" anchor="ctr">
            <a:spAutoFit/>
          </a:bodyPr>
          <a:lstStyle/>
          <a:p>
            <a:pPr>
              <a:defRPr sz="1800" b="0">
                <a:solidFill>
                  <a:srgbClr val="153556"/>
                </a:solidFill>
                <a:latin typeface="Arial"/>
              </a:defRPr>
            </a:pPr>
            <a:r>
              <a:t>Detection helps. It cannot guarantee every private detail was found.</a:t>
            </a:r>
          </a:p>
        </p:txBody>
      </p:sp>
      <p:sp>
        <p:nvSpPr>
          <p:cNvPr id="8" name="TextBox 7"/>
          <p:cNvSpPr txBox="1"/>
          <p:nvPr/>
        </p:nvSpPr>
        <p:spPr>
          <a:xfrm>
            <a:off x="603504" y="5175504"/>
            <a:ext cx="10908792" cy="566928"/>
          </a:xfrm>
          <a:prstGeom prst="rect">
            <a:avLst/>
          </a:prstGeom>
          <a:noFill/>
        </p:spPr>
        <p:txBody>
          <a:bodyPr wrap="square" lIns="18288" rIns="18288" tIns="18288" bIns="18288" anchor="ctr">
            <a:spAutoFit/>
          </a:bodyPr>
          <a:lstStyle/>
          <a:p>
            <a:pPr>
              <a:defRPr sz="2300" b="1">
                <a:solidFill>
                  <a:srgbClr val="D7A24A"/>
                </a:solidFill>
                <a:latin typeface="Arial"/>
              </a:defRPr>
            </a:pPr>
            <a:r>
              <a:t>Ask ALPINNO about availability and licensing.</a:t>
            </a:r>
          </a:p>
        </p:txBody>
      </p:sp>
      <p:sp>
        <p:nvSpPr>
          <p:cNvPr id="9" name="TextBox 8"/>
          <p:cNvSpPr txBox="1"/>
          <p:nvPr/>
        </p:nvSpPr>
        <p:spPr>
          <a:xfrm>
            <a:off x="603504" y="6327648"/>
            <a:ext cx="7772400" cy="219456"/>
          </a:xfrm>
          <a:prstGeom prst="rect">
            <a:avLst/>
          </a:prstGeom>
          <a:noFill/>
        </p:spPr>
        <p:txBody>
          <a:bodyPr wrap="square" lIns="18288" rIns="18288" tIns="18288" bIns="18288" anchor="ctr">
            <a:spAutoFit/>
          </a:bodyPr>
          <a:lstStyle/>
          <a:p>
            <a:pPr>
              <a:defRPr sz="1300" b="0">
                <a:solidFill>
                  <a:srgbClr val="DAE8F3"/>
                </a:solidFill>
                <a:latin typeface="Arial"/>
              </a:defRPr>
            </a:pPr>
            <a:r>
              <a:t>ALPINNO GmbH  |  Developed in Switzerland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